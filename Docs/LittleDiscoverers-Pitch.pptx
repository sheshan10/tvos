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tvOS prototype, separate from any Part A iOS app. A child picks Animals, Fruits, or Vehicles, sees one picture, and presses the remote. It is meant for the sofa, not a 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claim that television teaches better. The audience is children aged 4 to 7 and the grown-up with them. The value in this prototype is a calm five-picture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one wrong answer and one first-try star. Leaving early does not save. Finishing saves once. Mention narration only if you have heard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focus move and the leave confirmation. That is the Apple TV behaviour. It is not a resized phone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the live App Store page before the viva, because the text can change. Do not claim a tablet app is missing from Apple TV unless you have checked that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guess. There is no StoreKit code. Do not name a price until caregivers have used the free topics.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you have run the app since this slide was written, replace the status with what you saw, including failures. Do not say the tests passed unless you ran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next action. A possible impact is a few calm minutes of shared naming on the family TV. Do not promise a mark or a learning 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7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7D74"/>
                </a:solidFill>
                <a:latin typeface="Calibri"/>
              </a:rPr>
              <a:t>1  / 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560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7D74"/>
                </a:solidFill>
                <a:latin typeface="Calibri"/>
              </a:rPr>
              <a:t>SE4041 ASSIGNMENT 02, PART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2A2E"/>
                </a:solidFill>
                <a:latin typeface="Calibri"/>
              </a:rPr>
              <a:t>Little Discoverers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E7D74"/>
                </a:solidFill>
                <a:latin typeface="Calibri"/>
              </a:rPr>
              <a:t>Look. Choose. Discover.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F2A2E"/>
                </a:solidFill>
                <a:latin typeface="Calibri"/>
              </a:rPr>
              <a:t>A single-player picture-recognition game for Apple TV.</a:t>
            </a:r>
          </a:p>
          <a:p>
            <a:pPr>
              <a:spcAft>
                <a:spcPts val="1200"/>
              </a:spcAft>
              <a:defRPr sz="2200">
                <a:solidFill>
                  <a:srgbClr val="1F2A2E"/>
                </a:solidFill>
                <a:latin typeface="Calibri"/>
              </a:defRPr>
            </a:pPr>
            <a:r>
              <a:t>For children aged 4–7, with a grown-up nearby.</a:t>
            </a:r>
          </a:p>
          <a:p>
            <a:pPr>
              <a:spcAft>
                <a:spcPts val="1200"/>
              </a:spcAft>
              <a:defRPr sz="2200">
                <a:solidFill>
                  <a:srgbClr val="1F2A2E"/>
                </a:solidFill>
                <a:latin typeface="Calibri"/>
              </a:defRPr>
            </a:pPr>
            <a:r>
              <a:t>Look at a large picture. Choose its name with the Siri Remote.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7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7D74"/>
                </a:solidFill>
                <a:latin typeface="Calibri"/>
              </a:rPr>
              <a:t>2  / 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560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7D74"/>
                </a:solidFill>
                <a:latin typeface="Calibri"/>
              </a:rPr>
              <a:t>PROBLEM AND AUDIENCE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2A2E"/>
                </a:solidFill>
                <a:latin typeface="Calibri"/>
              </a:rPr>
              <a:t>A television is not a touch screen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E7D74"/>
                </a:solidFill>
                <a:latin typeface="Calibri"/>
              </a:rPr>
              <a:t>One remote, a shared screen, and a grown-up nearby.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F2A2E"/>
                </a:solidFill>
                <a:latin typeface="Calibri"/>
              </a:rPr>
              <a:t>Many early-learning games are built for phones and tablets.</a:t>
            </a:r>
          </a:p>
          <a:p>
            <a:pPr>
              <a:spcAft>
                <a:spcPts val="1200"/>
              </a:spcAft>
              <a:defRPr sz="2200">
                <a:solidFill>
                  <a:srgbClr val="1F2A2E"/>
                </a:solidFill>
                <a:latin typeface="Calibri"/>
              </a:defRPr>
            </a:pPr>
            <a:r>
              <a:t>This activity is a short naming session at TV distance.</a:t>
            </a:r>
          </a:p>
          <a:p>
            <a:pPr>
              <a:spcAft>
                <a:spcPts val="1200"/>
              </a:spcAft>
              <a:defRPr sz="2200">
                <a:solidFill>
                  <a:srgbClr val="1F2A2E"/>
                </a:solidFill>
                <a:latin typeface="Calibri"/>
              </a:defRPr>
            </a:pPr>
            <a:r>
              <a:t>A wrong try does not take stars away.</a:t>
            </a:r>
          </a:p>
          <a:p>
            <a:pPr>
              <a:spcAft>
                <a:spcPts val="1200"/>
              </a:spcAft>
              <a:defRPr sz="2200">
                <a:solidFill>
                  <a:srgbClr val="1F2A2E"/>
                </a:solidFill>
                <a:latin typeface="Calibri"/>
              </a:defRPr>
            </a:pPr>
            <a:r>
              <a:t>No timer and no ranking against other children.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7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7D74"/>
                </a:solidFill>
                <a:latin typeface="Calibri"/>
              </a:rPr>
              <a:t>3  / 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560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7D74"/>
                </a:solidFill>
                <a:latin typeface="Calibri"/>
              </a:rPr>
              <a:t>GAMEPLAY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2A2E"/>
                </a:solidFill>
                <a:latin typeface="Calibri"/>
              </a:rPr>
              <a:t>Look, choose, then discover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E7D74"/>
                </a:solidFill>
                <a:latin typeface="Calibri"/>
              </a:rPr>
              <a:t>Five pictures. Three answers. One star for a first try.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F2A2E"/>
                </a:solidFill>
                <a:latin typeface="Calibri"/>
              </a:rPr>
              <a:t>Topics: Animals, Fruits, and Vehicles. Five pictures each.</a:t>
            </a:r>
          </a:p>
          <a:p>
            <a:pPr>
              <a:spcAft>
                <a:spcPts val="1200"/>
              </a:spcAft>
              <a:defRPr sz="2200">
                <a:solidFill>
                  <a:srgbClr val="1F2A2E"/>
                </a:solidFill>
                <a:latin typeface="Calibri"/>
              </a:defRPr>
            </a:pPr>
            <a:r>
              <a:t>“What is this?” sits above the picture, beside three large answers.</a:t>
            </a:r>
          </a:p>
          <a:p>
            <a:pPr>
              <a:spcAft>
                <a:spcPts val="1200"/>
              </a:spcAft>
              <a:defRPr sz="2200">
                <a:solidFill>
                  <a:srgbClr val="1F2A2E"/>
                </a:solidFill>
                <a:latin typeface="Calibri"/>
              </a:defRPr>
            </a:pPr>
            <a:r>
              <a:t>A wrong choice turns off. The child can try another.</a:t>
            </a:r>
          </a:p>
          <a:p>
            <a:pPr>
              <a:spcAft>
                <a:spcPts val="1200"/>
              </a:spcAft>
              <a:defRPr sz="2200">
                <a:solidFill>
                  <a:srgbClr val="1F2A2E"/>
                </a:solidFill>
                <a:latin typeface="Calibri"/>
              </a:defRPr>
            </a:pPr>
            <a:r>
              <a:t>Hear Question reads the choices and does not give the answer.</a:t>
            </a:r>
          </a:p>
          <a:p>
            <a:pPr>
              <a:spcAft>
                <a:spcPts val="1200"/>
              </a:spcAft>
              <a:defRPr sz="2200">
                <a:solidFill>
                  <a:srgbClr val="1F2A2E"/>
                </a:solidFill>
                <a:latin typeface="Calibri"/>
              </a:defRPr>
            </a:pPr>
            <a:r>
              <a:t>A finished session saves a best score on this Apple TV.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7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7D74"/>
                </a:solidFill>
                <a:latin typeface="Calibri"/>
              </a:rPr>
              <a:t>4  / 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560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7D74"/>
                </a:solidFill>
                <a:latin typeface="Calibri"/>
              </a:rPr>
              <a:t>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2A2E"/>
                </a:solidFill>
                <a:latin typeface="Calibri"/>
              </a:rPr>
              <a:t>Built for the Siri Remote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E7D74"/>
                </a:solidFill>
                <a:latin typeface="Calibri"/>
              </a:rPr>
              <a:t>Focus, Menu, and a 10-foot layout.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F2A2E"/>
                </a:solidFill>
                <a:latin typeface="Calibri"/>
              </a:rPr>
              <a:t>Every control is a SwiftUI button with a clear focus border.</a:t>
            </a:r>
          </a:p>
          <a:p>
            <a:pPr>
              <a:spcAft>
                <a:spcPts val="1200"/>
              </a:spcAft>
              <a:defRPr sz="2200">
                <a:solidFill>
                  <a:srgbClr val="1F2A2E"/>
                </a:solidFill>
                <a:latin typeface="Calibri"/>
              </a:defRPr>
            </a:pPr>
            <a:r>
              <a:t>After a wrong answer, focus moves to an available choice.</a:t>
            </a:r>
          </a:p>
          <a:p>
            <a:pPr>
              <a:spcAft>
                <a:spcPts val="1200"/>
              </a:spcAft>
              <a:defRPr sz="2200">
                <a:solidFill>
                  <a:srgbClr val="1F2A2E"/>
                </a:solidFill>
                <a:latin typeface="Calibri"/>
              </a:defRPr>
            </a:pPr>
            <a:r>
              <a:t>After a correct answer, focus moves to Next Picture.</a:t>
            </a:r>
          </a:p>
          <a:p>
            <a:pPr>
              <a:spcAft>
                <a:spcPts val="1200"/>
              </a:spcAft>
              <a:defRPr sz="2200">
                <a:solidFill>
                  <a:srgbClr val="1F2A2E"/>
                </a:solidFill>
                <a:latin typeface="Calibri"/>
              </a:defRPr>
            </a:pPr>
            <a:r>
              <a:t>Menu asks before an unfinished quiz is discarded.</a:t>
            </a:r>
          </a:p>
          <a:p>
            <a:pPr>
              <a:spcAft>
                <a:spcPts val="1200"/>
              </a:spcAft>
              <a:defRPr sz="2200">
                <a:solidFill>
                  <a:srgbClr val="1F2A2E"/>
                </a:solidFill>
                <a:latin typeface="Calibri"/>
              </a:defRPr>
            </a:pPr>
            <a:r>
              <a:t>HD and 4K share a 1920 by 1080 point layout.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7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7D74"/>
                </a:solidFill>
                <a:latin typeface="Calibri"/>
              </a:rPr>
              <a:t>5  / 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560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7D74"/>
                </a:solidFill>
                <a:latin typeface="Calibri"/>
              </a:rPr>
              <a:t>SIMILAR APPS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2A2E"/>
                </a:solidFill>
                <a:latin typeface="Calibri"/>
              </a:rPr>
              <a:t>Video on Apple TV, games on touch screens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E7D74"/>
                </a:solidFill>
                <a:latin typeface="Calibri"/>
              </a:rPr>
              <a:t>Checked against primary App Store and support pages.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F2A2E"/>
                </a:solidFill>
                <a:latin typeface="Calibri"/>
              </a:rPr>
              <a:t>PBS KIDS Video is on Apple TV. It streams shows. It is not this quiz.</a:t>
            </a:r>
          </a:p>
          <a:p>
            <a:pPr>
              <a:spcAft>
                <a:spcPts val="1200"/>
              </a:spcAft>
              <a:defRPr sz="2200">
                <a:solidFill>
                  <a:srgbClr val="1F2A2E"/>
                </a:solidFill>
                <a:latin typeface="Calibri"/>
              </a:defRPr>
            </a:pPr>
            <a:r>
              <a:t>PBS KIDS Games, Khan Academy Kids, and Sago Mini School were listed for iPhone and iPad, not Apple TV.</a:t>
            </a:r>
          </a:p>
          <a:p>
            <a:pPr>
              <a:spcAft>
                <a:spcPts val="1200"/>
              </a:spcAft>
              <a:defRPr sz="2200">
                <a:solidFill>
                  <a:srgbClr val="1F2A2E"/>
                </a:solidFill>
                <a:latin typeface="Calibri"/>
              </a:defRPr>
            </a:pPr>
            <a:r>
              <a:t>Little Discoverers combines a remote quiz, offline pictures, spoken choices, and saved progress.</a:t>
            </a:r>
          </a:p>
          <a:p>
            <a:pPr>
              <a:spcAft>
                <a:spcPts val="1200"/>
              </a:spcAft>
              <a:defRPr sz="2200">
                <a:solidFill>
                  <a:srgbClr val="1F2A2E"/>
                </a:solidFill>
                <a:latin typeface="Calibri"/>
              </a:defRPr>
            </a:pPr>
            <a:r>
              <a:t>It does not replace those larger libraries.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7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7D74"/>
                </a:solidFill>
                <a:latin typeface="Calibri"/>
              </a:rPr>
              <a:t>6  / 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560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7D74"/>
                </a:solidFill>
                <a:latin typeface="Calibri"/>
              </a:rPr>
              <a:t>A HYPOTHESIS, NOT A RESULT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2A2E"/>
                </a:solidFill>
                <a:latin typeface="Calibri"/>
              </a:rPr>
              <a:t>Free topics, paid packs later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E7D74"/>
                </a:solidFill>
                <a:latin typeface="Calibri"/>
              </a:rPr>
              <a:t>No purchases are built into this prototype.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F2A2E"/>
                </a:solidFill>
                <a:latin typeface="Calibri"/>
              </a:rPr>
              <a:t>Possible later model: these three topics stay free.</a:t>
            </a:r>
          </a:p>
          <a:p>
            <a:pPr>
              <a:spcAft>
                <a:spcPts val="1200"/>
              </a:spcAft>
              <a:defRPr sz="2200">
                <a:solidFill>
                  <a:srgbClr val="1F2A2E"/>
                </a:solidFill>
                <a:latin typeface="Calibri"/>
              </a:defRPr>
            </a:pPr>
            <a:r>
              <a:t>Extra topic packs could be a one-time purchase.</a:t>
            </a:r>
          </a:p>
          <a:p>
            <a:pPr>
              <a:spcAft>
                <a:spcPts val="1200"/>
              </a:spcAft>
              <a:defRPr sz="2200">
                <a:solidFill>
                  <a:srgbClr val="1F2A2E"/>
                </a:solidFill>
                <a:latin typeface="Calibri"/>
              </a:defRPr>
            </a:pPr>
            <a:r>
              <a:t>First step would be a small supervised pilot.</a:t>
            </a:r>
          </a:p>
          <a:p>
            <a:pPr>
              <a:spcAft>
                <a:spcPts val="1200"/>
              </a:spcAft>
              <a:defRPr sz="2200">
                <a:solidFill>
                  <a:srgbClr val="1F2A2E"/>
                </a:solidFill>
                <a:latin typeface="Calibri"/>
              </a:defRPr>
            </a:pPr>
            <a:r>
              <a:t>No price has been tested. No revenue is claimed.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7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7D74"/>
                </a:solidFill>
                <a:latin typeface="Calibri"/>
              </a:rPr>
              <a:t>7  / 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560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7D74"/>
                </a:solidFill>
                <a:latin typeface="Calibri"/>
              </a:rPr>
              <a:t>WHAT IS ACTUALLY TRUE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2A2E"/>
                </a:solidFill>
                <a:latin typeface="Calibri"/>
              </a:rPr>
              <a:t>Prototype 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E7D74"/>
                </a:solidFill>
                <a:latin typeface="Calibri"/>
              </a:rPr>
              <a:t>Say what has been built, and what has not been run.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F2A2E"/>
                </a:solidFill>
                <a:latin typeface="Calibri"/>
              </a:rPr>
              <a:t>Built: six screens, 15 local pictures, scoring, narration code, and on-device progress.</a:t>
            </a:r>
          </a:p>
          <a:p>
            <a:pPr>
              <a:spcAft>
                <a:spcPts val="1200"/>
              </a:spcAft>
              <a:defRPr sz="2200">
                <a:solidFill>
                  <a:srgbClr val="1F2A2E"/>
                </a:solidFill>
                <a:latin typeface="Calibri"/>
              </a:defRPr>
            </a:pPr>
            <a:r>
              <a:t>Checked here: the question file, the image files, and that the Xcode project is present.</a:t>
            </a:r>
          </a:p>
          <a:p>
            <a:pPr>
              <a:spcAft>
                <a:spcPts val="1200"/>
              </a:spcAft>
              <a:defRPr sz="2200">
                <a:solidFill>
                  <a:srgbClr val="1F2A2E"/>
                </a:solidFill>
                <a:latin typeface="Calibri"/>
              </a:defRPr>
            </a:pPr>
            <a:r>
              <a:t>Not checked here: Xcode build, XCTest, the simulator, speech, VoiceOver, or a real Apple TV.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7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7D74"/>
                </a:solidFill>
                <a:latin typeface="Calibri"/>
              </a:rPr>
              <a:t>8  / 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560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7D74"/>
                </a:solidFill>
                <a:latin typeface="Calibri"/>
              </a:rPr>
              <a:t>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2A2E"/>
                </a:solidFill>
                <a:latin typeface="Calibri"/>
              </a:rPr>
              <a:t>Pilot first, store later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E7D74"/>
                </a:solidFill>
                <a:latin typeface="Calibri"/>
              </a:rPr>
              <a:t>Impact is possible. It is not measured.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F2A2E"/>
                </a:solidFill>
                <a:latin typeface="Calibri"/>
              </a:rPr>
              <a:t>Run the simulator checklist: remote, narration, relaunch, Reduce Motion, and VoiceOver.</a:t>
            </a:r>
          </a:p>
          <a:p>
            <a:pPr>
              <a:spcAft>
                <a:spcPts val="1200"/>
              </a:spcAft>
              <a:defRPr sz="2200">
                <a:solidFill>
                  <a:srgbClr val="1F2A2E"/>
                </a:solidFill>
                <a:latin typeface="Calibri"/>
              </a:defRPr>
            </a:pPr>
            <a:r>
              <a:t>Add sharper 4K art, a layered app icon, and Top Shelf before any store conversation.</a:t>
            </a:r>
          </a:p>
          <a:p>
            <a:pPr>
              <a:spcAft>
                <a:spcPts val="1200"/>
              </a:spcAft>
              <a:defRPr sz="2200">
                <a:solidFill>
                  <a:srgbClr val="1F2A2E"/>
                </a:solidFill>
                <a:latin typeface="Calibri"/>
              </a:defRPr>
            </a:pPr>
            <a:r>
              <a:t>Ask a few families to try the free topics before designing paid packs.</a:t>
            </a:r>
          </a:p>
          <a:p>
            <a:pPr>
              <a:spcAft>
                <a:spcPts val="1200"/>
              </a:spcAft>
              <a:defRPr sz="2200">
                <a:solidFill>
                  <a:srgbClr val="1F2A2E"/>
                </a:solidFill>
                <a:latin typeface="Calibri"/>
              </a:defRPr>
            </a:pPr>
            <a:r>
              <a:t>A fully nonvisual mode is future work, not a claim about this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